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44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" cy="1737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Caesar to Vigenère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of Substitution Ciphers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EE9"/>
                </a:solidFill>
              </a:rPr>
              <a:t>Course: Cryptography and Network Security </a:t>
            </a:r>
            <a:r>
              <a:rPr lang="en-US" sz="1600">
                <a:solidFill>
                  <a:srgbClr val="D6DEE9"/>
                </a:solidFill>
              </a:rPr>
              <a:t>	Course Code: CSA 5101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DEE9"/>
                </a:solidFill>
              </a:rPr>
              <a:t>Name: Dinesh V  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6DEE9"/>
                </a:solidFill>
              </a:rPr>
              <a:t>Register No: 192524309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Substitution Ciphers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Cipher: an algorithm that converts readable plaintext into unreadable ciphertext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Substitution: each plaintext letter is replaced by another letter or symbol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Encryption uses a key; decryption reverses it with the same key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Foundation of classical cryptography; basis for later block ciphers (confusion)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Basic Concept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 Encrypt (key)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 Decrypt (key)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Caesar Cipher – The Beginning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Attributed to Julius Caesar (1st century BC), who used it for military messages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Each letter is shifted a fixed number of positions in the alphabet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Key = shift value (Caesar used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Decryption: shift back by the same amount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Simple Example (shift 3)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Plain:   A B C D E ... X Y Z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Cipher:  D E F G H ... A B C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→ DWWDFN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of Caesar Cipher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Encryption: C = (P + k) mod 26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Decryption: P = (C − k) mod 26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Pros: simple, fast, no tools needed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Cons: tiny key space, no real security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Brute force: just try every shift until the text makes sense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Example: k = 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H(7)  → (7+3)=10  → K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E(4)  → 7  → 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L(11) → 14 → 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L(11) → 14 → 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O(14) → 17 → 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→ KHOOR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Caesar Cipher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Only 25 usable shifts, so an attacker tries them all in seconds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Letter frequencies are preserved (E stays the most common letter)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Frequency analysis (Al-Kindi, 9th century) breaks it easily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Need: a much larger key space and a way to hide letter frequencies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Brute-Force 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DWWDFN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1: CVVCEM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2: BUUBDL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3: ATTACK  ✔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25 trials needed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Monoalphabetic Substitution Cipher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Key is a random permutation of the 26 letters, not a fixed shift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Key space = 26! ≈ 4 × 10²⁶, so brute force is impractical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Big improvement over Caesar cipher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Weakness: one fixed mapping, so letter frequencies still leak; frequency analysis breaks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Example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Plain: ABCDEFGHIJKLMNOPQRSTUVWXYZ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  QWERTYUIOPASDFGHJKLZXCVBNM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→ ITSSG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Vigenère Cipher – Polyalphabetic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First described by Giovan Bellaso (1553); later misattributed to Blaise de Vigenère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Uses a keyword instead of a single shift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Each key letter selects a different Caesar shift, so several alphabets are used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Same plaintext letter can map to different ciphertext letters, hiding frequencies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Called "le chiffre indéchiffrable" for about 300 years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Key Idea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Caesar: 1 shift for all letters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Vigenère: shifts follow the keyword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LEMON = shifts 11, 4, 12, 14, 13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of Vigenère Cipher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Repeat the keyword to match the plaintext length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Encryption: Cᵢ = (Pᵢ + Kᵢ) mod 26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Decryption: Pᵢ = (Cᵢ − Kᵢ) mod 26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Decrypt by subtracting the repeated key letters, position by position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Example (key = LEMON)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91640"/>
            <a:ext cx="27432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Plain: ATTACKATDAWN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  LEMONLEMONLE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Cipher: LXFOPVEFRNHR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A+L = L,  T+E = X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T+M = F,  A+O = 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Caesar vs. Monoalphabetic vs. Vigenère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Caesar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Monoalphabetic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Vigenère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Key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Single shift (1–25)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Random 26-letter permutation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Keyword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Key space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26! ≈ 4 × 10²⁶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26ᵏ for key length 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Alphabets used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Several (key length)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Frequency analysis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Breaks easily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Breaks easily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Hidden, needs key length first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Weakness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Brute force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Frequency analysis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Kasiski / index of coincidence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Evolution, Security &amp;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</a:rPr>
              <a:t>Evolution: </a:t>
            </a:r>
            <a:r>
              <a:rPr lang="en-US" sz="1400" dirty="0">
                <a:solidFill>
                  <a:srgbClr val="1B2A41"/>
                </a:solidFill>
              </a:rPr>
              <a:t>Caesar → Monoalphabetic → Vigenère (bigger key space, then flatter frequencies)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</a:rPr>
              <a:t>Cryptanalysis: </a:t>
            </a:r>
            <a:r>
              <a:rPr lang="en-US" sz="1400" dirty="0">
                <a:solidFill>
                  <a:srgbClr val="1B2A41"/>
                </a:solidFill>
              </a:rPr>
              <a:t>Al-Kindi's frequency analysis; Babbage and Kasiski broke Vigenère (1850s–60s)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</a:rPr>
              <a:t>Relevance: </a:t>
            </a:r>
            <a:r>
              <a:rPr lang="en-US" sz="1400" dirty="0">
                <a:solidFill>
                  <a:srgbClr val="1B2A41"/>
                </a:solidFill>
              </a:rPr>
              <a:t>led to rotor machines, one-time pad, and modern ciphers (AES)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</a:rPr>
              <a:t>Conclusion: </a:t>
            </a:r>
            <a:r>
              <a:rPr lang="en-US" sz="1400" dirty="0">
                <a:solidFill>
                  <a:srgbClr val="1B2A41"/>
                </a:solidFill>
              </a:rPr>
              <a:t>each cipher fixed the last one's weakness, and each new attack shaped better design.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</a:rPr>
              <a:t>W. Stallings, Cryptography and Network Security: Principles and Practice, Pearson.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</a:rPr>
              <a:t>D. Kahn, The Codebreakers, Scribner, 1996.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</a:rPr>
              <a:t>S. Singh, The Code Book, Doubleday, 1999.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</a:rPr>
              <a:t>IEEE Xplore / Google Scholar: search "classical substitution ciphers cryptanalysis" for papers to cite.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pher">
  <a:themeElements>
    <a:clrScheme name="Cipher">
      <a:dk1>
        <a:srgbClr val="1B2A41"/>
      </a:dk1>
      <a:lt1>
        <a:srgbClr val="FFFFFF"/>
      </a:lt1>
      <a:dk2>
        <a:srgbClr val="0F1B2D"/>
      </a:dk2>
      <a:lt2>
        <a:srgbClr val="F3F6FA"/>
      </a:lt2>
      <a:accent1>
        <a:srgbClr val="2A9D8F"/>
      </a:accent1>
      <a:accent2>
        <a:srgbClr val="E9C46A"/>
      </a:accent2>
      <a:accent3>
        <a:srgbClr val="E76F51"/>
      </a:accent3>
      <a:accent4>
        <a:srgbClr val="4A6FA5"/>
      </a:accent4>
      <a:accent5>
        <a:srgbClr val="8AB17D"/>
      </a:accent5>
      <a:accent6>
        <a:srgbClr val="6D597A"/>
      </a:accent6>
      <a:hlink>
        <a:srgbClr val="2A9D8F"/>
      </a:hlink>
      <a:folHlink>
        <a:srgbClr val="6D597A"/>
      </a:folHlink>
    </a:clrScheme>
    <a:fontScheme name="Cipher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809</Words>
  <Application>Microsoft Office PowerPoint</Application>
  <PresentationFormat>On-screen Show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Cipher</vt:lpstr>
      <vt:lpstr>PowerPoint Presentation</vt:lpstr>
      <vt:lpstr>Introduction to Substitution Ciphers</vt:lpstr>
      <vt:lpstr>Caesar Cipher – The Beginning</vt:lpstr>
      <vt:lpstr>Working of Caesar Cipher</vt:lpstr>
      <vt:lpstr>Limitations of Caesar Cipher</vt:lpstr>
      <vt:lpstr>Monoalphabetic Substitution Cipher</vt:lpstr>
      <vt:lpstr>Vigenère Cipher – Polyalphabetic</vt:lpstr>
      <vt:lpstr>Working of Vigenère Cipher</vt:lpstr>
      <vt:lpstr>Caesar vs. Monoalphabetic vs. Vigenère</vt:lpstr>
      <vt:lpstr>Evolution, Security &amp; 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Dinesh V</cp:lastModifiedBy>
  <cp:revision>2</cp:revision>
  <dcterms:created xsi:type="dcterms:W3CDTF">2026-10-06T14:22:07Z</dcterms:created>
  <dcterms:modified xsi:type="dcterms:W3CDTF">2026-10-09T03:52:28Z</dcterms:modified>
</cp:coreProperties>
</file>